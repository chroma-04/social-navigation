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— Non leggere la slide. Un saluto e passa oltre: il video lavora da solo mentre parli.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— Il punto da lasciare: l'ostacolo reagisce alla presenza del robot. Nomina le tre strategie perché tornano dopo come i tre punti di innesto.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Slide decisiva. Se la domanda è falsificabile, il risultato negativo è una risposta e non un fallimento. Insisti su «verificabile».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Non spiegare A*: la commissione lo conosce. Di' cosa cambia Theta* e che il costo sta tutto nel controllo di visibilità, perché serve dopo.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La differenza dalle gaussiane della letteratura è che la macchia è propagata e non analitica. È il punto originale del capitolo 3: dillo.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— Le normative in una riga sola, non svilupparle. Il riquadro in basso è il seme del risultato: la scala su cui un miglioramento sarebbe percepibile.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Il messaggio è che la densità non è inventata: viene da una norma antincendio, ed è poco più della metà del massimo ammesso.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Sono le tre strategie nominate nella slide 2. Chiudi il cerchio esplicitamente: «le tre strategie di prima, realizzate».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— Insisti su «residuo»: alla rete non si chiede di prevedere il moto, solo di stimare quanto il modello analitico stia sbagliando.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Il riquadro è la slide più forte del blocco metodo. Dillo con calma: è ciò che distingue una misura da un aneddoto.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Qui il risultato è positivo e va detto senza cautele: la componente appresa fa esattamente ciò per cui è stata addestrata.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 — Non dire «non è cambiato niente». Mostra i canali e lascia che siano loro a vedere che sono fermi. Quattro verifiche indipendenti escludono le spiegazioni alternative: portata triplicata, previsione soppressa, ambiente aperto, densità.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 — La slide che giustifica la tesi. Novanta secondi, con calma. Lo spostamento è in larga parte trasversale rispetto all'errore: il rapporto fra i due è prossimo a 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— Il valore di metodo: misurare il tetto costa ventiquattro corse, addestrare e misurare una rete costa settimane. L'oracolo ha chiuso una linea di lavoro prima che venisse percorsa.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 — Chiudi qui, non sui limiti. L'ultima frase è quella che resta.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5200" y="0"/>
            <a:ext cx="4066920" cy="6858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85200" y="2951999"/>
            <a:ext cx="33469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828282"/>
                </a:solidFill>
                <a:latin typeface="Calibri"/>
              </a:rPr>
              <a:t>SEGNAPOSTO VIDEO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828282"/>
                </a:solidFill>
                <a:latin typeface="Calibri"/>
              </a:rPr>
              <a:t>Cancella questo riquadro e inserisci qui la registrazione della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828282"/>
                </a:solidFill>
                <a:latin typeface="Calibri"/>
              </a:rPr>
              <a:t>simulazione su Povo (Inserisci → Video → Questo dispositivo).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828282"/>
                </a:solidFill>
                <a:latin typeface="Calibri"/>
              </a:rPr>
              <a:t>Stessa posizione e misura: 22,57 / 0 / 11,3 × 19,05 cm.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5200" y="0"/>
            <a:ext cx="12600" cy="685800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68292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828282"/>
                </a:solidFill>
                <a:latin typeface="Calibri"/>
              </a:rPr>
              <a:t>Università degli Studi di Trento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828282"/>
                </a:solidFill>
                <a:latin typeface="Calibri"/>
              </a:rPr>
              <a:t>Dipartimento di Ingegneria Industriale — Meccatronica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96000"/>
            <a:ext cx="6829200" cy="12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0" i="0">
                <a:solidFill>
                  <a:srgbClr val="262626"/>
                </a:solidFill>
                <a:latin typeface="Georgia"/>
              </a:rPr>
              <a:t>Algoritmi di navigazione sociale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54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780000"/>
            <a:ext cx="68292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 i="1">
                <a:solidFill>
                  <a:srgbClr val="262626"/>
                </a:solidFill>
                <a:latin typeface="Calibri"/>
              </a:rPr>
              <a:t>Vantaggi, limiti e metodi dell'ibridazione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 i="1">
                <a:solidFill>
                  <a:srgbClr val="262626"/>
                </a:solidFill>
                <a:latin typeface="Calibri"/>
              </a:rPr>
              <a:t>di un sistema di pianificazione classico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400000"/>
            <a:ext cx="324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Relatore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Prof. Daniele Fontanelli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000" y="5400000"/>
            <a:ext cx="324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Laureando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Nicola Sabadas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Un robot fra le persone non ha ostacoli fermi: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ha ostacoli che si muovono e che lui stesso influenza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 · 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  ·  1:00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percorso ottimo di adesso può essere impercorribile fra mezzo secondo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53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430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criterio smette di essere geometrico e diventa relazionale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01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2916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Tre strategie in letteratura: prevedere, rallentare, scansarsi</a:t>
            </a:r>
          </a:p>
        </p:txBody>
      </p:sp>
      <p:pic>
        <p:nvPicPr>
          <p:cNvPr id="12" name="Picture 11" descr="p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99" y="1655999"/>
            <a:ext cx="2600716" cy="446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63999" y="6228000"/>
            <a:ext cx="34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28282"/>
                </a:solidFill>
                <a:latin typeface="Calibri"/>
              </a:rPr>
              <a:t>Povo 1, piano secondo — l'ambiente misurato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La domanda, in forma verificabile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 · 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3  ·  0:45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872000"/>
            <a:ext cx="10752119" cy="1224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872000"/>
            <a:ext cx="43200" cy="12240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000" y="2124000"/>
            <a:ext cx="10104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0" i="0">
                <a:solidFill>
                  <a:srgbClr val="262626"/>
                </a:solidFill>
                <a:latin typeface="Georgia"/>
              </a:rPr>
              <a:t>Una previsione più accurata del moto delle persone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0" i="0">
                <a:solidFill>
                  <a:srgbClr val="262626"/>
                </a:solidFill>
                <a:latin typeface="Georgia"/>
              </a:rPr>
              <a:t>migliora il comportamento di un pianificatore già funzionante?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772799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6000" y="3671999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Fra il modello e il comportamento stanno una mappa di costo, un pianificatore, una legge di controllo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258799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6000" y="4157999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Ciascun passaggio può assorbire il guadagno prima che diventi azione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744799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6000" y="4643999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L'ipotesi è presa come cosa da misurare, non come premessa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Pianificazione: Theta*, variante any-angle di A*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 · 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4  ·  0:45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9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8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Un nodo si collega al nonno quando fra i due c'è linea di vista libera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45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35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 percorsi non sono più vincolati agli otto multipli di 45°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9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28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controllo di visibilità assorbe la quasi totalità del tempo di pianificazione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43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33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Deterministico: requisito dei confronti appaiati usati in tutta la validazione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La previsione diventa una regione di rischio,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non un punto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 · 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5  ·  0:50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18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088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Kalman a velocità costante, proiezione a un secondo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7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74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La macchia è propagata nello spazio libero: i muri la interrompono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6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60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Anisotropa — si allunga lungo la direzione di marcia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64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546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Convertita in costo additivo per il pianificatore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8000" y="2015999"/>
            <a:ext cx="3636000" cy="3024000"/>
          </a:xfrm>
          <a:prstGeom prst="rect">
            <a:avLst/>
          </a:prstGeom>
          <a:solidFill>
            <a:srgbClr val="F4F2F0"/>
          </a:solidFill>
          <a:ln w="1270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3999" y="3240000"/>
            <a:ext cx="3204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828282"/>
                </a:solidFill>
                <a:latin typeface="Calibri"/>
              </a:rPr>
              <a:t>Qui una schermata della macchia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828282"/>
                </a:solidFill>
                <a:latin typeface="Calibri"/>
              </a:rPr>
              <a:t>(persona in movimento, Figura 2b della tesi)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Il robot ragiona solo su ciò che vede,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e si ferma su un vincolo rigido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 · 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6  ·  0:40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18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08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Lidar simulato: portata finita, occlusione dietro i muri, rumore sulla posizione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7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7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Sicurezza e comfort separati per costruzione: un vincolo binario e un costo morbido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6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6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vincolo rigido è ancorato a IEC 61496-1 e ISO 3691-4, il comfort alle zone di Hall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104000"/>
            <a:ext cx="10752119" cy="1044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" y="4356000"/>
            <a:ext cx="1010411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262626"/>
                </a:solidFill>
                <a:latin typeface="Calibri"/>
              </a:rPr>
              <a:t>I confini fra zone prossemiche distano decine di centimetri: un guadagno di pochi centimetri, per quanto misurabile, non sposta il robot da una zona all'altra.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L'ambiente e la folla sono misurati, non plausibili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 · 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7  ·  0:45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872000"/>
          <a:ext cx="6480000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0"/>
                <a:gridCol w="291600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82828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828282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Planimetria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Povo 1, piano secondo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Superficie calpestabile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1997 m² su 3212 lordi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Densità di riferimento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17,5 persone / 100 m²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Ancoraggio normativo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D.M. 26/8/1992 → 31,2 max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Classi di pedoni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4, proporzioni da picco reale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99" y="1655999"/>
            <a:ext cx="2600716" cy="446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Tre punti di innesto indipendenti,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misurati uno alla volta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3 · L'ibridazione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8  ·  0:55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872000"/>
            <a:ext cx="3348000" cy="43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052000"/>
            <a:ext cx="33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9B1E2D"/>
                </a:solidFill>
                <a:latin typeface="Calibri"/>
              </a:rPr>
              <a:t>SPAZIO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376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Georgia"/>
              </a:rPr>
              <a:t>Regione di rischio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988000"/>
            <a:ext cx="334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828282"/>
                </a:solidFill>
                <a:latin typeface="Calibri"/>
              </a:rPr>
              <a:t>dove il robot passa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420000"/>
            <a:ext cx="3348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il pianificatore consuma la macchia come costo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0" y="1872000"/>
            <a:ext cx="3348000" cy="43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0" y="2052000"/>
            <a:ext cx="33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9B1E2D"/>
                </a:solidFill>
                <a:latin typeface="Calibri"/>
              </a:rPr>
              <a:t>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2376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Georgia"/>
              </a:rPr>
              <a:t>Controllo di velocità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2988000"/>
            <a:ext cx="334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828282"/>
                </a:solidFill>
                <a:latin typeface="Calibri"/>
              </a:rPr>
              <a:t>quando vi passa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0" y="3420000"/>
            <a:ext cx="3348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confronta l'istante d'arrivo con la posizione prevista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0" y="1872000"/>
            <a:ext cx="3348000" cy="43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0" y="2052000"/>
            <a:ext cx="33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9B1E2D"/>
                </a:solidFill>
                <a:latin typeface="Calibri"/>
              </a:rPr>
              <a:t>POSIZIONE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2376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Georgia"/>
              </a:rPr>
              <a:t>Controllo di posizione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0" y="2988000"/>
            <a:ext cx="334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828282"/>
                </a:solidFill>
                <a:latin typeface="Calibri"/>
              </a:rPr>
              <a:t>dove sta lungo il percorso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3420000"/>
            <a:ext cx="3348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traslazione laterale entro un intorno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112000"/>
            <a:ext cx="1075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828282"/>
                </a:solidFill>
                <a:latin typeface="Calibri"/>
              </a:rPr>
              <a:t>Consumano la stessa previsione attraverso punti distinti nel codice: è questa separazione a consentire di attribuire a ciascuno, separatamente, l'effetto misurato.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La rete corregge il residuo del filtro,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non sostituisce nulla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3 · L'ibridazione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9  ·  0:40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18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088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GRU 48×2, poco meno di ventiduemila parametri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7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74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Ingresso: trenta stime di stato filtrate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6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60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Uscita: lo scarto fra previsione del Kalman e posizione vera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64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546000"/>
            <a:ext cx="635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Etichette lette a tempo debito dalla simulazione, non estrapolate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8000" y="2015999"/>
            <a:ext cx="3636000" cy="2232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6000" y="2304000"/>
            <a:ext cx="306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111.347 campioni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110 esecuzioni indipendenti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separate per scenario, non per campione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Come si misura: confronti appaiati sugli stessi semi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3 · L'ibridazione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10  ·  0:55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9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8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Ogni coppia gira sulla stessa scena: stessa folla, stesse traiettorie, stesso rumore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45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35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Criterio: media della differenza diviso il suo errore standard — sotto 1 nulla, sopra 2 stabilito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9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28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Test dei segni sui livelli di densità come blocchi indipendenti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43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33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Ogni effetto che superava la soglia è stato replicato su semi disgiunti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752000"/>
            <a:ext cx="10752119" cy="1044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4752000"/>
            <a:ext cx="43200" cy="10440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" y="5004000"/>
            <a:ext cx="1010411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262626"/>
                </a:solidFill>
                <a:latin typeface="Calibri"/>
              </a:rPr>
              <a:t>Cinque effetti apparentemente stabiliti sono caduti alla replica: senza questa disciplina, cinque affermazioni false sarebbero finite nella tesi.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La previsione migliora, e il guadagno tiene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fuori dall'ambiente di addestramento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4 · Il 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11  ·  0:45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2015999"/>
          <a:ext cx="6840000" cy="13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368000"/>
                <a:gridCol w="1368000"/>
                <a:gridCol w="136800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828282"/>
                          </a:solidFill>
                          <a:latin typeface="Calibri"/>
                        </a:rPr>
                        <a:t>errore a un secondo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28282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28282"/>
                          </a:solidFill>
                          <a:latin typeface="Calibri"/>
                        </a:rPr>
                        <a:t>mediano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28282"/>
                          </a:solidFill>
                          <a:latin typeface="Calibri"/>
                        </a:rPr>
                        <a:t>90° perc.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Kalman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1,20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0,93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2,62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Kalman + rete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0,95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0,73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2,12 m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riduzione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20,7%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21,7%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</a:rPr>
                        <a:t>19,0%</a:t>
                      </a:r>
                    </a:p>
                  </a:txBody>
                  <a:tcPr marL="54000" marR="54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0000" y="406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6000" y="396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−20,2% su Povo, planimetria mai vista in addestramento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54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6000" y="444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guadagno si conserva su sette livelli di densità su otto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Il comportamento del robot non cambia: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nessuno dei canali misurati si muove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4 · Il 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12  ·  1:15</a:t>
            </a:r>
          </a:p>
        </p:txBody>
      </p:sp>
      <p:pic>
        <p:nvPicPr>
          <p:cNvPr id="6" name="Picture 5" descr="confronto_quattro_model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0" y="1620000"/>
            <a:ext cx="7380000" cy="4744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28000" y="1872000"/>
            <a:ext cx="26280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Tempo di percorrenza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invariato entro ±1,7%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Tempo in arresto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nessuna variazione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Margine spaziale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meno di due centimetri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Fluidità del moto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nessuna variazione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Dove si arresta il guadagno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4 · Il 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13  ·  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908000"/>
            <a:ext cx="2304000" cy="684000"/>
          </a:xfrm>
          <a:prstGeom prst="rect">
            <a:avLst/>
          </a:prstGeom>
          <a:solidFill>
            <a:srgbClr val="F4F2F0"/>
          </a:solidFill>
          <a:ln w="1270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106000"/>
            <a:ext cx="230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previsione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000" y="2106000"/>
            <a:ext cx="39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1908000"/>
            <a:ext cx="2304000" cy="684000"/>
          </a:xfrm>
          <a:prstGeom prst="rect">
            <a:avLst/>
          </a:prstGeom>
          <a:solidFill>
            <a:srgbClr val="F4F2F0"/>
          </a:solidFill>
          <a:ln w="1270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2106000"/>
            <a:ext cx="230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centro del rischio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000" y="2106000"/>
            <a:ext cx="39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908000"/>
            <a:ext cx="2304000" cy="684000"/>
          </a:xfrm>
          <a:prstGeom prst="rect">
            <a:avLst/>
          </a:prstGeom>
          <a:solidFill>
            <a:srgbClr val="F4F2F0"/>
          </a:solidFill>
          <a:ln w="1270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0" y="2106000"/>
            <a:ext cx="230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mappa di costo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4000" y="2106000"/>
            <a:ext cx="39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0000" y="1908000"/>
            <a:ext cx="2304000" cy="684000"/>
          </a:xfrm>
          <a:prstGeom prst="rect">
            <a:avLst/>
          </a:prstGeom>
          <a:solidFill>
            <a:srgbClr val="F4F2F0"/>
          </a:solidFill>
          <a:ln w="1270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0000" y="2106000"/>
            <a:ext cx="230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percorso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2736000"/>
            <a:ext cx="104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828282"/>
                </a:solidFill>
                <a:latin typeface="Calibri"/>
              </a:rPr>
              <a:t>tutti e quattro gli anelli reggono — i percorsi differiscono davvero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3528000"/>
            <a:ext cx="10752119" cy="1440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3528000"/>
            <a:ext cx="43200" cy="14400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000" y="3744000"/>
            <a:ext cx="10104119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 i="0">
                <a:solidFill>
                  <a:srgbClr val="262626"/>
                </a:solidFill>
                <a:latin typeface="Georgia"/>
              </a:rPr>
              <a:t>La correzione sposta la previsione di 76 cm, ma la avvicina al vero di 25.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 i="0">
                <a:solidFill>
                  <a:srgbClr val="262626"/>
                </a:solidFill>
                <a:latin typeface="Georgia"/>
              </a:rPr>
              <a:t>Le decisioni che determinano il tempo avvengono su celle da un metro.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256000"/>
            <a:ext cx="1075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Il sistema si muove diversamente senza muoversi meglio: il guadagno si trasferisce alla decisione soltanto nella misura in cui supera la risoluzione alla quale la decisione è presa.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Anche una previsione perfetta non aggiunge nulla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4 · Il 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14  ·  1:00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9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8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L'oracolo riceve la posizione futura vera: equivale ad abbattere il 100% dell'errore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45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35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Nessuna rete, quale che sia l'architettura, può collocarsi al di sopra di esso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9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28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Sul controllo di velocità: zero secondi, una ventina di centimetri di spazio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43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33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Sul controllo di posizione: tre millimetri su venticinque centimetri di guadagno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464000"/>
            <a:ext cx="10752119" cy="1224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4464000"/>
            <a:ext cx="43200" cy="12240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" y="4716000"/>
            <a:ext cx="101041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I venticinque centimetri li produce l'attuatore, non il predittore.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Su questo canale l'ibridazione è esclusa per dimostrazione, e la rete non vi è stata innestata: l'omissione è una conclusione, non una lacuna.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Il limite non è nell'informazione,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ma nella struttura con cui la si 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5 · 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15  ·  1:30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26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16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L'esito nullo si ripresenta identico sotto due modelli cinematici diversi: è una verifica di robustezza, non una disomogeneità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9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8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La convenienza dell'ibridazione non è una proprietà del modello, ma della relazione fra scala del guadagno e risoluzione della decisione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62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52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limite superiore si può misurare prima di addestrare: il costo di un addestramento inutile è evitabile per intero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896000"/>
            <a:ext cx="10752119" cy="1044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000" y="4896000"/>
            <a:ext cx="43200" cy="10440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000" y="5148000"/>
            <a:ext cx="10104119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1">
                <a:solidFill>
                  <a:srgbClr val="262626"/>
                </a:solidFill>
                <a:latin typeface="Georgia"/>
              </a:rPr>
              <a:t>L'indifferenza, quando è misurata con il proprio intervallo di confidenza, è un'informazione utile quanto un guadagno.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024000"/>
            <a:ext cx="10752119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262626"/>
                </a:solidFill>
                <a:latin typeface="Georgia"/>
              </a:rPr>
              <a:t>Slide di riserva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816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28282"/>
                </a:solidFill>
                <a:latin typeface="Calibri"/>
              </a:rPr>
              <a:t>Da qui in avanti non si espone: servono a rispondere alle domande.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Costo della risoluzione: perché non si è raffinato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riserva — non 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17  ·  domande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Un dimezzamento porta la cella a 50 cm: il guadagno ne vale 25, la decisione resterebbe a scala doppia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2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2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Latenza della singola ricerca: 95 ms → 401 ms → 1,68 s, contro un fotogramma da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9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9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Diffusione delle macchie a 25 cm con trenta persone: 86 ms su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7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6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Eseguire le campagne a 50 cm era possibile: costa l'1%, indistinguibile da zero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348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000" y="4248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vincolo non è il costo del banco, è la latenza a bordo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Scala spaziale del simulatore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riserva — non 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18  ·  domande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Una cella vale un metro, ancorata all'ingombro dei corpi (spalle ~46 cm)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2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2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A questa scala le velocità dei pedoni risultano superiori a quelle tipiche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9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9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È un limite dichiarato in §9.4, non una svista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7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6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 confronti sono appaiati e interni a ciascuna configurazione: la scala non li altera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Perché il guadagno della rete si ferma al 20,2%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riserva — non 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19  ·  domande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L'ingresso contiene la sola storia individuale della persona osservata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2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2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Nessun descrittore di contesto: né muri, né densità locale, né capofila del gruppo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9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9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Deve inferire una svolta senza sapere che c'è un muro davanti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7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6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È il limite più stringente dell'impostazione, ed è il primo sviluppo indicato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Come si affronterebbe su un robot reale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riserva — non 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20  ·  domande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Risoluzione fine solo in una finestra attorno al robot, non su tutta la mappa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2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2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Due livelli a frequenze diverse: globale lento, locale veloce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9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9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Ripianificare solo quando le celle cambiate intersecano davvero il percorso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7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6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Lo strato locale esiste già: è il controllo di posizione del Capitolo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50000"/>
            <a:ext cx="10752119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626"/>
                </a:solidFill>
                <a:latin typeface="Georgia"/>
              </a:rPr>
              <a:t>I tempi assoluti dipendono dall'implementazione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06000"/>
            <a:ext cx="1152000" cy="324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3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riserva — non 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2119" y="630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 i="0">
                <a:solidFill>
                  <a:srgbClr val="828282"/>
                </a:solidFill>
                <a:latin typeface="Calibri"/>
              </a:rPr>
              <a:t>21  ·  domande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44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1944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Le misure sono tempo di parete di un'implementazione in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20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6000" y="2520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Un'implementazione compilata sposterebbe gli assoluti di un fattore importante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196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000" y="3096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Il ×4 per dimezzamento è strutturale: discende dal quadruplicarsi dei nodi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772800"/>
            <a:ext cx="151200" cy="25200"/>
          </a:xfrm>
          <a:prstGeom prst="rect">
            <a:avLst/>
          </a:prstGeom>
          <a:solidFill>
            <a:srgbClr val="9B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000" y="3672000"/>
            <a:ext cx="1013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Sposterebbe la soglia, non la eliminerebbe: cambierebbe quanti dimezzamenti ci si può permettere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